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2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6640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FIRA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Intelligence &amp; Resource Analytics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Financial Analytics for Teams That Demand Precision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63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47091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v2.1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teams struggle with fragmented tools, siloed data, and manual processes that slow decision-making.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" cy="658368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9751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Data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2311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financials, resource plans, and budgets live in disconnected spreadsheets and systems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69748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54864" cy="658368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2752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Analysis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300837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spent on SQL queries, pivot tables, and report generation for routine questions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54864" cy="658368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5295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Insight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78561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gaps, budget variances, and resource misallocations discovered too late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25196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31520" y="4251960"/>
            <a:ext cx="54864" cy="658368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05840" y="43068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Reporting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56285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teams produce conflicting numbers with no single source of truth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FIRA unifies financial analytics, resource planning, and AI-powered intelligence into a single platform.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1828800" cy="2743200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18288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Planner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46888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demand vs. capacity visualization with priority-based project stacking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0" y="1737360"/>
            <a:ext cx="1828800" cy="2743200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0" y="1737360"/>
            <a:ext cx="18288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880360" y="1965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80360" y="246888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queries across financials and resource data with auto-charting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737360"/>
            <a:ext cx="1828800" cy="2743200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54880" y="1737360"/>
            <a:ext cx="18288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92040" y="1965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Analytics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92040" y="246888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dashboards, trend analysis, department rollups, and geo analytics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1737360"/>
            <a:ext cx="1828800" cy="2743200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766560" y="1737360"/>
            <a:ext cx="18288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03720" y="1965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Management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03720" y="246888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upload and ingestion for Excel and CSV with vector embeddings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Platform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97280" y="1280160"/>
            <a:ext cx="6949440" cy="822960"/>
          </a:xfrm>
          <a:prstGeom prst="rect">
            <a:avLst/>
          </a:prstGeom>
          <a:solidFill>
            <a:srgbClr val="2E7D3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71600" y="13533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691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 |  Interactive Charts  |  Theme Engine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97280" y="2377440"/>
            <a:ext cx="6949440" cy="822960"/>
          </a:xfrm>
          <a:prstGeom prst="rect">
            <a:avLst/>
          </a:prstGeom>
          <a:solidFill>
            <a:srgbClr val="1B5E20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37160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Layer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788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Agent  |  SQL Agent  |  Semantic Agent  |  Chat Agent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97280" y="3474720"/>
            <a:ext cx="6949440" cy="822960"/>
          </a:xfrm>
          <a:prstGeom prst="rect">
            <a:avLst/>
          </a:prstGeom>
          <a:solidFill>
            <a:srgbClr val="163D1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371600" y="3547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886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 |  pgvector  |  3 Tables  |  Vector Embeddings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0" y="2121408"/>
            <a:ext cx="0" cy="228600"/>
          </a:xfrm>
          <a:prstGeom prst="line">
            <a:avLst/>
          </a:prstGeom>
          <a:noFill/>
          <a:ln w="2540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0" y="3218688"/>
            <a:ext cx="0" cy="228600"/>
          </a:xfrm>
          <a:prstGeom prst="line">
            <a:avLst/>
          </a:prstGeom>
          <a:noFill/>
          <a:ln w="2540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Resource Planner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demand vs. capacity visualization for strategic workforce planning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54864" cy="5303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Chart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81051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area visualization with priority-based project ordering and real-time gap detection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212848"/>
            <a:ext cx="54864" cy="5303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23113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Controls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Per-country editable target capacity with monthly granularity toggle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871216"/>
            <a:ext cx="54864" cy="5303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288950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Analysis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1272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Country-level cost multipliers with automatic total cost calculation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529584"/>
            <a:ext cx="54864" cy="5303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547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78561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reordering, hide/show projects, allocation shifting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187952"/>
            <a:ext cx="54864" cy="5303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44439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load scenarios for comparison planning sessions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AI-Powered ChatBot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questions in plain English — get executive-quality analysis with auto-generated charts.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645920" cy="640080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1965960"/>
            <a:ext cx="548640" cy="0"/>
          </a:xfrm>
          <a:prstGeom prst="line">
            <a:avLst/>
          </a:prstGeom>
          <a:noFill/>
          <a:ln w="2540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286000" y="1645920"/>
            <a:ext cx="1645920" cy="640080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28600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Agent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77640" y="1965960"/>
            <a:ext cx="548640" cy="0"/>
          </a:xfrm>
          <a:prstGeom prst="line">
            <a:avLst/>
          </a:prstGeom>
          <a:noFill/>
          <a:ln w="2540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14800" y="1645920"/>
            <a:ext cx="1645920" cy="640080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/ RAG / Chat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06440" y="1965960"/>
            <a:ext cx="548640" cy="0"/>
          </a:xfrm>
          <a:prstGeom prst="line">
            <a:avLst/>
          </a:prstGeom>
          <a:noFill/>
          <a:ln w="2540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1645920" cy="640080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1792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Report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651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Queries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017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total spend across all cost centers in Q4?"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34015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 me FTE allocation by homegroup across all projects"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3785616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"Compare HW vs SW spending trends over 4 quarters"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41696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resource demand split by country?"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Financial Analytics Suite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37490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3749040" cy="5486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4447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55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snapshot with project spend breakdown and LOE analysis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280160"/>
            <a:ext cx="37490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1280160"/>
            <a:ext cx="3749040" cy="5486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0" y="14447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Trends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1755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trend analysis across fiscal periods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468880"/>
            <a:ext cx="37490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468880"/>
            <a:ext cx="3749040" cy="5486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26334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Allocation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944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rates and allocation optimization views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468880"/>
            <a:ext cx="37490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468880"/>
            <a:ext cx="3749040" cy="5486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26334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Rollup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2944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Department-level cost aggregation and VP rollups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3657600"/>
            <a:ext cx="37490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3749040" cy="5486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38221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 &amp; Org Analytics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41330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Country-level cost comparisons and org metrics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657600"/>
            <a:ext cx="374904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657600"/>
            <a:ext cx="3749040" cy="5486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38221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Sandbox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1330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visualization builder for ad-hoc analysis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Database Architecture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with pgvector for hybrid SQL + semantic search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Queried By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5E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opex_data_hybrid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financial data (spend, budgets, projects)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1024-dim IVFFlat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 (SQL + RAG), All dashboards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bpafg_demand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 demand (headcount, FTE by project/month)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575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relational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 (SQL), Resource Planner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priority_template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priority rankings and capacity/cost config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575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relational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 (SQL), Resource Planner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Ingestion Pipeline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Pipeline (Vector Embeddings)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173736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1737360" cy="4572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17190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Files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1938528"/>
            <a:ext cx="228600" cy="0"/>
          </a:xfrm>
          <a:prstGeom prst="line">
            <a:avLst/>
          </a:prstGeom>
          <a:noFill/>
          <a:ln w="2540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88920" y="1645920"/>
            <a:ext cx="173736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88920" y="1645920"/>
            <a:ext cx="1737360" cy="4572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88920" y="17190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Convert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1938528"/>
            <a:ext cx="228600" cy="0"/>
          </a:xfrm>
          <a:prstGeom prst="line">
            <a:avLst/>
          </a:prstGeom>
          <a:noFill/>
          <a:ln w="2540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46320" y="1645920"/>
            <a:ext cx="173736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645920"/>
            <a:ext cx="1737360" cy="4572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7190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QGenie Embed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29400" y="1938528"/>
            <a:ext cx="228600" cy="0"/>
          </a:xfrm>
          <a:prstGeom prst="line">
            <a:avLst/>
          </a:prstGeom>
          <a:noFill/>
          <a:ln w="2540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903720" y="1645920"/>
            <a:ext cx="173736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903720" y="1645920"/>
            <a:ext cx="1737360" cy="4572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03720" y="17190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Store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2560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Pipeline (Relational)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3017520"/>
            <a:ext cx="173736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1520" y="3017520"/>
            <a:ext cx="1737360" cy="45720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31520" y="3090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CSV/XLSX Files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14600" y="3310128"/>
            <a:ext cx="228600" cy="0"/>
          </a:xfrm>
          <a:prstGeom prst="line">
            <a:avLst/>
          </a:prstGeom>
          <a:noFill/>
          <a:ln w="2540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788920" y="3017520"/>
            <a:ext cx="173736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788920" y="3017520"/>
            <a:ext cx="1737360" cy="45720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88920" y="3090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 &amp; Normalize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3310128"/>
            <a:ext cx="228600" cy="0"/>
          </a:xfrm>
          <a:prstGeom prst="line">
            <a:avLst/>
          </a:prstGeom>
          <a:noFill/>
          <a:ln w="2540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46320" y="3017520"/>
            <a:ext cx="173736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17520"/>
            <a:ext cx="1737360" cy="45720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90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Tables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pipelines available via CLI or the Data Management UI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Multi-Agent AI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749808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54864" cy="749808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Agent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6459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user queries into SQL data requests, semantic search, or general conversation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194560"/>
            <a:ext cx="7680960" cy="749808"/>
          </a:xfrm>
          <a:prstGeom prst="rect">
            <a:avLst/>
          </a:prstGeom>
          <a:solidFill>
            <a:srgbClr val="2E7D3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194560"/>
            <a:ext cx="54864" cy="749808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2267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Agent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5603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&amp; executes PostgreSQL queries across all 3 tables, produces executive-level narrative summaries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108960"/>
            <a:ext cx="7680960" cy="749808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3108960"/>
            <a:ext cx="54864" cy="749808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05840" y="3182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Agent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3474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Performs RAG retrieval over vector-embedded OpEx documents for policy and explanatory questions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7680960" cy="749808"/>
          </a:xfrm>
          <a:prstGeom prst="rect">
            <a:avLst/>
          </a:prstGeom>
          <a:solidFill>
            <a:srgbClr val="2E7D3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1520" y="4023360"/>
            <a:ext cx="54864" cy="749808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4096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Agent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43891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greetings, help requests, and general conversation with professional analyst tone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FIRA at a Glance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92024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920240" cy="54864"/>
          </a:xfrm>
          <a:prstGeom prst="rect">
            <a:avLst/>
          </a:prstGeom>
          <a:solidFill>
            <a:srgbClr val="1B5E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85800" y="27432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97480" y="1371600"/>
            <a:ext cx="192024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697480" y="1371600"/>
            <a:ext cx="1920240" cy="5486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97480" y="155448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2E7D3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2834640" y="27432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(SQL + Vector)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1371600"/>
            <a:ext cx="192024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46320" y="1371600"/>
            <a:ext cx="1920240" cy="54864"/>
          </a:xfrm>
          <a:prstGeom prst="rect">
            <a:avLst/>
          </a:prstGeom>
          <a:solidFill>
            <a:srgbClr val="1B5E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155448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4983480" y="27432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95160" y="1371600"/>
            <a:ext cx="1920240" cy="2194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995160" y="1371600"/>
            <a:ext cx="1920240" cy="5486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995160" y="155448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2E7D3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1024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7132320" y="27432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Dimensions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(pgvector)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69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8507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4206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Port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9748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69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RAG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697480" y="4206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69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46320" y="4206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Native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9516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B69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CLI+UI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995160" y="4206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Ingestion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Technology Stack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54864" cy="65836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2435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51790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 |  Plotly  |  Custom CSS Theme  |  IBM Plex Typography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011680"/>
            <a:ext cx="54864" cy="65836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20665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34086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QGenie SDK  |  Multi-Agent Orchestration  |  pgvector RAG  |  Claude / GPT Models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83464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834640"/>
            <a:ext cx="54864" cy="65836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05840" y="28895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16382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 |  pgvector Extension  |  SQLAlchemy  |  Psycopg2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1520" y="3657600"/>
            <a:ext cx="54864" cy="65836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7124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398678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 |  OpenPyXL  |  JSONL Conversion  |  Vector Embedding Pipeline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5E2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Configuration &amp; Deployment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657600" cy="54864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Two-Layer Configuration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config/config.yaml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application settings — paths, models,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endpoints, DB config, Streamlit port, tuning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(secrets only)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database passwords — never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to version control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6576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657600" cy="54864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0" y="1371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 (5 Steps)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Clone &amp; create venv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pip install -r requirements.txt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Configure .env + config.yaml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python bootstrap_db.py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python -m ui.launch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Security &amp; Data Governance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621792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54864" cy="621792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234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Isolation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490472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credentials stored in .env — never in config.yaml or version control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938528"/>
            <a:ext cx="7680960" cy="621792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938528"/>
            <a:ext cx="54864" cy="621792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9842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Integrity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2402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bootstrap with schema validation and mismatch reporting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688336"/>
            <a:ext cx="7680960" cy="621792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688336"/>
            <a:ext cx="54864" cy="621792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05840" y="27340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Deployment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299008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on-premises — no data leaves your network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7680960" cy="621792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31520" y="3438144"/>
            <a:ext cx="54864" cy="621792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4838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373989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user roles with separate admin and application credentials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187952"/>
            <a:ext cx="7680960" cy="621792"/>
          </a:xfrm>
          <a:prstGeom prst="rect">
            <a:avLst/>
          </a:prstGeom>
          <a:solidFill>
            <a:srgbClr val="245828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1520" y="4187952"/>
            <a:ext cx="54864" cy="621792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05840" y="42336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48970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chat session persistence with conversation history and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kern="0" spc="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FIRA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Intelligence &amp; Resource Analytics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transform your financial analytics?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v2.1  |  Enterprise-Grade  |  On-Premises  |  AI-Powered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63D1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911</Words>
  <Application>Microsoft Macintosh PowerPoint</Application>
  <PresentationFormat>On-screen Show (16:9)</PresentationFormat>
  <Paragraphs>193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FIRA — Financial Intelligence &amp; Resource Analytics</dc:title>
  <dc:subject>PptxGenJS Presentation</dc:subject>
  <dc:creator>FIRA Team</dc:creator>
  <cp:lastModifiedBy>rudravaram, Pavan k</cp:lastModifiedBy>
  <cp:revision>1</cp:revision>
  <dcterms:created xsi:type="dcterms:W3CDTF">2026-02-22T03:16:25Z</dcterms:created>
  <dcterms:modified xsi:type="dcterms:W3CDTF">2026-02-22T03:33:07Z</dcterms:modified>
</cp:coreProperties>
</file>